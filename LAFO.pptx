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1654885"/>
            <a:ext cx="9445752" cy="3474720"/>
          </a:xfrm>
          <a:prstGeom prst="rect">
            <a:avLst/>
          </a:prstGeom>
          <a:solidFill>
            <a:srgbClr val="161D30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920240"/>
            <a:ext cx="8531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C084FC"/>
                </a:solidFill>
                <a:latin typeface="Inter"/>
              </a:defRPr>
            </a:pPr>
            <a:r>
              <a:rPr dirty="0"/>
              <a:t>100% PRIVATE &amp; OFFLINE INTELLIGENCE</a:t>
            </a:r>
          </a:p>
          <a:p>
            <a:pPr>
              <a:spcAft>
                <a:spcPts val="400"/>
              </a:spcAft>
              <a:defRPr sz="5400" b="1">
                <a:solidFill>
                  <a:srgbClr val="38BDF8"/>
                </a:solidFill>
                <a:latin typeface="Inter"/>
              </a:defRPr>
            </a:pPr>
            <a:r>
              <a:rPr dirty="0"/>
              <a:t>LAFO</a:t>
            </a:r>
          </a:p>
          <a:p>
            <a:pPr>
              <a:spcAft>
                <a:spcPts val="1400"/>
              </a:spcAft>
              <a:defRPr sz="2400" b="1">
                <a:solidFill>
                  <a:srgbClr val="F1F5F9"/>
                </a:solidFill>
                <a:latin typeface="Inter"/>
              </a:defRPr>
            </a:pPr>
            <a:r>
              <a:rPr dirty="0"/>
              <a:t>Local Agentic File Organizer</a:t>
            </a:r>
          </a:p>
          <a:p>
            <a:pPr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rPr dirty="0"/>
              <a:t>Automatically monitors, extracts content, classifies, renames, and moves files using local LLMs &amp; Vector </a:t>
            </a:r>
            <a:r>
              <a:rPr dirty="0" err="1"/>
              <a:t>DBs.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828800" y="4297680"/>
            <a:ext cx="85313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22C55E"/>
                </a:solidFill>
                <a:latin typeface="Consolas"/>
              </a:defRPr>
            </a:pPr>
            <a:r>
              <a:t>🛡️ Zero Cloud Leakage    |    🧠 FAISS Pre-Filtering    |    🤖 local Llama 3 (Ollama)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Inter"/>
              </a:defRPr>
            </a:pPr>
            <a:r>
              <a:t>The Core Ingestion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0">
                <a:solidFill>
                  <a:srgbClr val="F1F5F9"/>
                </a:solidFill>
                <a:latin typeface="Inter"/>
              </a:defRPr>
            </a:pPr>
            <a:r>
              <a:t>Manual file organization is a critical, time-consuming drag:</a:t>
            </a:r>
          </a:p>
          <a:p>
            <a:pPr>
              <a:spcAft>
                <a:spcPts val="400"/>
              </a:spcAft>
              <a:defRPr sz="1600" b="1">
                <a:solidFill>
                  <a:srgbClr val="C084FC"/>
                </a:solidFill>
                <a:latin typeface="Inter"/>
              </a:defRPr>
            </a:pPr>
            <a:r>
              <a:t>• Unstructured Downloads Folder</a:t>
            </a:r>
          </a:p>
          <a:p>
            <a:pPr>
              <a:spcAft>
                <a:spcPts val="14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Browser downloads clog up your directories with invoices, tax forms, reports, and bills mixed together.</a:t>
            </a:r>
          </a:p>
          <a:p>
            <a:pPr>
              <a:spcAft>
                <a:spcPts val="400"/>
              </a:spcAft>
              <a:defRPr sz="1600" b="1">
                <a:solidFill>
                  <a:srgbClr val="C084FC"/>
                </a:solidFill>
                <a:latin typeface="Inter"/>
              </a:defRPr>
            </a:pPr>
            <a:r>
              <a:t>• Cloud Data Exposure / Privacy Leakage</a:t>
            </a:r>
          </a:p>
          <a:p>
            <a:pPr>
              <a:spcAft>
                <a:spcPts val="14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Uploading sensitive papers (pension letters, bank statements, asset documents) to online AI platforms leaks personal metadata.</a:t>
            </a:r>
          </a:p>
          <a:p>
            <a:pPr>
              <a:spcAft>
                <a:spcPts val="400"/>
              </a:spcAft>
              <a:defRPr sz="1600" b="1">
                <a:solidFill>
                  <a:srgbClr val="C084FC"/>
                </a:solidFill>
                <a:latin typeface="Inter"/>
              </a:defRPr>
            </a:pPr>
            <a:r>
              <a:t>• Model Timeout on Heavy Taxonomies</a:t>
            </a:r>
          </a:p>
          <a:p>
            <a:pPr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Passing large folder structures (e.g. 302 categories) directly to a local CPU-based LLM causes severe latency and prompt timeout crashes.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645920"/>
            <a:ext cx="3913632" cy="4114800"/>
          </a:xfrm>
          <a:prstGeom prst="roundRect">
            <a:avLst/>
          </a:prstGeom>
          <a:solidFill>
            <a:srgbClr val="161D30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0" y="2011680"/>
            <a:ext cx="354787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C084FC"/>
                </a:solidFill>
                <a:latin typeface="Inter"/>
              </a:defRPr>
            </a:pPr>
            <a:r>
              <a:t>CRITICAL METRIC</a:t>
            </a:r>
          </a:p>
          <a:p>
            <a:pPr>
              <a:spcAft>
                <a:spcPts val="400"/>
              </a:spcAft>
              <a:defRPr sz="4800" b="1">
                <a:solidFill>
                  <a:srgbClr val="38BDF8"/>
                </a:solidFill>
                <a:latin typeface="Inter"/>
              </a:defRPr>
            </a:pPr>
            <a:r>
              <a:t>302</a:t>
            </a:r>
          </a:p>
          <a:p>
            <a:pPr>
              <a:spcAft>
                <a:spcPts val="1400"/>
              </a:spcAft>
              <a:defRPr sz="1600" b="1">
                <a:solidFill>
                  <a:srgbClr val="F1F5F9"/>
                </a:solidFill>
                <a:latin typeface="Inter"/>
              </a:defRPr>
            </a:pPr>
            <a:r>
              <a:t>Destination Folders</a:t>
            </a:r>
          </a:p>
          <a:p>
            <a:pPr>
              <a:spcAft>
                <a:spcPts val="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Passing this massive list of folders directly to Ollama creates a context of &gt;20,000 characters, leading to massive memory bloat and CPU processing timeouts.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Inter"/>
              </a:defRPr>
            </a:pPr>
            <a:r>
              <a:t>The Privacy-First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0">
                <a:solidFill>
                  <a:srgbClr val="F1F5F9"/>
                </a:solidFill>
                <a:latin typeface="Inter"/>
              </a:defRPr>
            </a:pPr>
            <a:r>
              <a:t>LAFO operates as a secure, local background daemon:</a:t>
            </a:r>
          </a:p>
          <a:p>
            <a:pPr>
              <a:spcAft>
                <a:spcPts val="400"/>
              </a:spcAft>
              <a:defRPr sz="1600" b="1">
                <a:solidFill>
                  <a:srgbClr val="22C55E"/>
                </a:solidFill>
                <a:latin typeface="Inter"/>
              </a:defRPr>
            </a:pPr>
            <a:r>
              <a:t>✓ 100% Offline Processing</a:t>
            </a:r>
          </a:p>
          <a:p>
            <a:pPr>
              <a:spcAft>
                <a:spcPts val="14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All operations—from PDF extraction and vector searches to LLM routing—happen offline on localhost. No external telemetry.</a:t>
            </a:r>
          </a:p>
          <a:p>
            <a:pPr>
              <a:spcAft>
                <a:spcPts val="400"/>
              </a:spcAft>
              <a:defRPr sz="1600" b="1">
                <a:solidFill>
                  <a:srgbClr val="22C55E"/>
                </a:solidFill>
                <a:latin typeface="Inter"/>
              </a:defRPr>
            </a:pPr>
            <a:r>
              <a:t>✓ Autonomous Watchdog Observer</a:t>
            </a:r>
          </a:p>
          <a:p>
            <a:pPr>
              <a:spcAft>
                <a:spcPts val="14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Runs quietly in the system tray, scanning for file creations or browser rename events, queuing tasks to concurrent worker threads.</a:t>
            </a:r>
          </a:p>
          <a:p>
            <a:pPr>
              <a:spcAft>
                <a:spcPts val="400"/>
              </a:spcAft>
              <a:defRPr sz="1600" b="1">
                <a:solidFill>
                  <a:srgbClr val="22C55E"/>
                </a:solidFill>
                <a:latin typeface="Inter"/>
              </a:defRPr>
            </a:pPr>
            <a:r>
              <a:t>✓ Smart Operations &amp; Deduplication</a:t>
            </a:r>
          </a:p>
          <a:p>
            <a:pPr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Auto-renames files semantically based on text content and extracted dates. Pre-checks SHA-256 hashes to filter out redundant file moves.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645920"/>
            <a:ext cx="3913632" cy="4114800"/>
          </a:xfrm>
          <a:prstGeom prst="roundRect">
            <a:avLst/>
          </a:prstGeom>
          <a:solidFill>
            <a:srgbClr val="161D30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0" y="2011680"/>
            <a:ext cx="354787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22C55E"/>
                </a:solidFill>
                <a:latin typeface="Inter"/>
              </a:defRPr>
            </a:pPr>
            <a:r>
              <a:t>SECURITY AUDIT</a:t>
            </a:r>
          </a:p>
          <a:p>
            <a:pPr>
              <a:spcAft>
                <a:spcPts val="400"/>
              </a:spcAft>
              <a:defRPr sz="4200" b="1">
                <a:solidFill>
                  <a:srgbClr val="22C55E"/>
                </a:solidFill>
                <a:latin typeface="Inter"/>
              </a:defRPr>
            </a:pPr>
            <a:r>
              <a:t>SECURE</a:t>
            </a:r>
          </a:p>
          <a:p>
            <a:pPr>
              <a:spcAft>
                <a:spcPts val="1400"/>
              </a:spcAft>
              <a:defRPr sz="1600" b="1">
                <a:solidFill>
                  <a:srgbClr val="F1F5F9"/>
                </a:solidFill>
                <a:latin typeface="Inter"/>
              </a:defRPr>
            </a:pPr>
            <a:r>
              <a:t>Local Sandboxed Runs</a:t>
            </a:r>
          </a:p>
          <a:p>
            <a:pPr>
              <a:spcAft>
                <a:spcPts val="0"/>
              </a:spcAft>
              <a:defRPr sz="1200" b="0">
                <a:solidFill>
                  <a:srgbClr val="94A3B8"/>
                </a:solidFill>
                <a:latin typeface="Consolas"/>
              </a:defRPr>
            </a:pPr>
            <a:r>
              <a:t>• Path names remain local</a:t>
            </a:r>
            <a:br/>
            <a:r>
              <a:t>• Document strings never uploaded</a:t>
            </a:r>
            <a:br/>
            <a:r>
              <a:t>• Logs cached locally in user folder</a:t>
            </a:r>
            <a:br/>
            <a:r>
              <a:t>• Full compliance with offline environments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Inter"/>
              </a:defRPr>
            </a:pPr>
            <a:r>
              <a:t>Data Flow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0">
                <a:solidFill>
                  <a:srgbClr val="F1F5F9"/>
                </a:solidFill>
                <a:latin typeface="Inter"/>
              </a:defRPr>
            </a:pPr>
            <a:r>
              <a:t>LAFO manages ingestion through 5 sequential phases:</a:t>
            </a:r>
          </a:p>
          <a:p>
            <a:pPr>
              <a:spcAft>
                <a:spcPts val="200"/>
              </a:spcAft>
              <a:defRPr sz="1500" b="1">
                <a:solidFill>
                  <a:srgbClr val="38BDF8"/>
                </a:solidFill>
                <a:latin typeface="Inter"/>
              </a:defRPr>
            </a:pPr>
            <a:r>
              <a:t>1. File Stability Verification:</a:t>
            </a:r>
          </a:p>
          <a:p>
            <a:pPr>
              <a:spcAft>
                <a:spcPts val="8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 Watchdog catches files and waits for write operations to lock/complete.</a:t>
            </a:r>
          </a:p>
          <a:p>
            <a:pPr>
              <a:spcAft>
                <a:spcPts val="200"/>
              </a:spcAft>
              <a:defRPr sz="1500" b="1">
                <a:solidFill>
                  <a:srgbClr val="38BDF8"/>
                </a:solidFill>
                <a:latin typeface="Inter"/>
              </a:defRPr>
            </a:pPr>
            <a:r>
              <a:t>2. FAISS Vector Search Pre-Filtering:</a:t>
            </a:r>
          </a:p>
          <a:p>
            <a:pPr>
              <a:spcAft>
                <a:spcPts val="8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 Matches file text against indexed directory names &amp; file exemplars.</a:t>
            </a:r>
          </a:p>
          <a:p>
            <a:pPr>
              <a:spcAft>
                <a:spcPts val="200"/>
              </a:spcAft>
              <a:defRPr sz="1500" b="1">
                <a:solidFill>
                  <a:srgbClr val="38BDF8"/>
                </a:solidFill>
                <a:latin typeface="Inter"/>
              </a:defRPr>
            </a:pPr>
            <a:r>
              <a:t>3. Candidate Narrowing:</a:t>
            </a:r>
          </a:p>
          <a:p>
            <a:pPr>
              <a:spcAft>
                <a:spcPts val="8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 Reduces the 302 categories down to the top 3-5 candidates for the LLM.</a:t>
            </a:r>
          </a:p>
          <a:p>
            <a:pPr>
              <a:spcAft>
                <a:spcPts val="200"/>
              </a:spcAft>
              <a:defRPr sz="1500" b="1">
                <a:solidFill>
                  <a:srgbClr val="38BDF8"/>
                </a:solidFill>
                <a:latin typeface="Inter"/>
              </a:defRPr>
            </a:pPr>
            <a:r>
              <a:t>4. Native JSON Model &amp; Retry Loops:</a:t>
            </a:r>
          </a:p>
          <a:p>
            <a:pPr>
              <a:spcAft>
                <a:spcPts val="8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 Ollama processes candidate subset in JSON format; retries up to 3 times on parsing error.</a:t>
            </a:r>
          </a:p>
          <a:p>
            <a:pPr>
              <a:spcAft>
                <a:spcPts val="200"/>
              </a:spcAft>
              <a:defRPr sz="1500" b="1">
                <a:solidFill>
                  <a:srgbClr val="38BDF8"/>
                </a:solidFill>
                <a:latin typeface="Inter"/>
              </a:defRPr>
            </a:pPr>
            <a:r>
              <a:t>5. Double-Check and Atomic Move:</a:t>
            </a:r>
          </a:p>
          <a:p>
            <a:pPr>
              <a:spcAft>
                <a:spcPts val="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 Verifies duplicate hash, renames semantically, and moves atomically.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0"/>
            <a:ext cx="491947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C084FC"/>
                </a:solidFill>
                <a:latin typeface="Consolas"/>
              </a:defRPr>
            </a:pPr>
            <a:r>
              <a:t>PIPELINES VISUALIZER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38BDF8"/>
                </a:solidFill>
                <a:latin typeface="Consolas"/>
              </a:defRPr>
            </a:pPr>
            <a:r>
              <a:t>   [ WATCHDOG STABILITY CHECK ]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A3B8"/>
                </a:solidFill>
                <a:latin typeface="Consolas"/>
              </a:defRPr>
            </a:pPr>
            <a:r>
              <a:t>            ↓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38BDF8"/>
                </a:solidFill>
                <a:latin typeface="Consolas"/>
              </a:defRPr>
            </a:pPr>
            <a:r>
              <a:t>   [ FAISS TAXONOMY PRE-FILTER ]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A3B8"/>
                </a:solidFill>
                <a:latin typeface="Consolas"/>
              </a:defRPr>
            </a:pPr>
            <a:r>
              <a:t>            ↓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38BDF8"/>
                </a:solidFill>
                <a:latin typeface="Consolas"/>
              </a:defRPr>
            </a:pPr>
            <a:r>
              <a:t>   [ LLM ROUTING (NATIVE JSON MODE) ]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4A3B8"/>
                </a:solidFill>
                <a:latin typeface="Consolas"/>
              </a:defRPr>
            </a:pPr>
            <a:r>
              <a:t>            ↓</a:t>
            </a:r>
          </a:p>
          <a:p>
            <a:pPr>
              <a:spcAft>
                <a:spcPts val="0"/>
              </a:spcAft>
              <a:defRPr sz="1400" b="1">
                <a:solidFill>
                  <a:srgbClr val="C084FC"/>
                </a:solidFill>
                <a:latin typeface="Consolas"/>
              </a:defRPr>
            </a:pPr>
            <a:r>
              <a:t>   [ ATOMIC MOVE &amp; LOGGING ]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Inter"/>
              </a:defRPr>
            </a:pPr>
            <a:r>
              <a:t>New in Version 1.3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5120640" cy="2103120"/>
          </a:xfrm>
          <a:prstGeom prst="roundRect">
            <a:avLst/>
          </a:prstGeom>
          <a:solidFill>
            <a:srgbClr val="161D30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  <a:latin typeface="Inter"/>
              </a:defRPr>
            </a:pPr>
            <a:r>
              <a:t>1. Single-Instance Execution Lock</a:t>
            </a:r>
          </a:p>
          <a:p>
            <a:pPr>
              <a:spcAft>
                <a:spcPts val="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Uses Windows msvcrt.locking on lafo.lock to prevent multiple orchestrator instances from running simultaneously, blocking duplicate file-move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463040"/>
            <a:ext cx="5120640" cy="2103120"/>
          </a:xfrm>
          <a:prstGeom prst="roundRect">
            <a:avLst/>
          </a:prstGeom>
          <a:solidFill>
            <a:srgbClr val="161D30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65392" y="16459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  <a:latin typeface="Inter"/>
              </a:defRPr>
            </a:pPr>
            <a:r>
              <a:t>2. Vector Candidate Pre-Filtering</a:t>
            </a:r>
          </a:p>
          <a:p>
            <a:pPr>
              <a:spcAft>
                <a:spcPts val="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Narrow down categories from 302 to top 3-5 candidates via local similarity search before prompting the LLM, reducing CPU context by 20x and stopping timeouts.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31920"/>
            <a:ext cx="5120640" cy="2103120"/>
          </a:xfrm>
          <a:prstGeom prst="roundRect">
            <a:avLst/>
          </a:prstGeom>
          <a:solidFill>
            <a:srgbClr val="161D30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  <a:latin typeface="Inter"/>
              </a:defRPr>
            </a:pPr>
            <a:r>
              <a:t>3. Exemplar-Based File Indexing</a:t>
            </a:r>
          </a:p>
          <a:p>
            <a:pPr>
              <a:spcAft>
                <a:spcPts val="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Indexes the first 15 files in target folders as semantic 'exemplars' inside the FAISS database. Learns your established naming and sorting patterns dynamically.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3931920"/>
            <a:ext cx="5120640" cy="2103120"/>
          </a:xfrm>
          <a:prstGeom prst="roundRect">
            <a:avLst/>
          </a:prstGeom>
          <a:solidFill>
            <a:srgbClr val="161D30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5392" y="4114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  <a:latin typeface="Inter"/>
              </a:defRPr>
            </a:pPr>
            <a:r>
              <a:t>4. Failure Quarantining</a:t>
            </a:r>
          </a:p>
          <a:p>
            <a:pPr>
              <a:spcAft>
                <a:spcPts val="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Documents failing classification after 3 retry loops are quarantined and routed to Unsorted_Review folder instead of clogging the monitored Downloads directory.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Inter"/>
              </a:defRPr>
            </a:pPr>
            <a:r>
              <a:t>Concurrency &amp; GPU Optimizations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0">
                <a:solidFill>
                  <a:srgbClr val="F1F5F9"/>
                </a:solidFill>
                <a:latin typeface="Inter"/>
              </a:defRPr>
            </a:pPr>
            <a:r>
              <a:t>LAFO leverages multithreading for maximum responsiveness:</a:t>
            </a:r>
          </a:p>
          <a:p>
            <a:pPr>
              <a:spcAft>
                <a:spcPts val="400"/>
              </a:spcAft>
              <a:defRPr sz="1600" b="1">
                <a:solidFill>
                  <a:srgbClr val="C084FC"/>
                </a:solidFill>
                <a:latin typeface="Inter"/>
              </a:defRPr>
            </a:pPr>
            <a:r>
              <a:t>• ThreadPoolExecutor Workers</a:t>
            </a:r>
          </a:p>
          <a:p>
            <a:pPr>
              <a:spcAft>
                <a:spcPts val="14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Dispatches file tasks to a background thread pool (default 4 workers) so browser download transactions are never blocked.</a:t>
            </a:r>
          </a:p>
          <a:p>
            <a:pPr>
              <a:spcAft>
                <a:spcPts val="400"/>
              </a:spcAft>
              <a:defRPr sz="1600" b="1">
                <a:solidFill>
                  <a:srgbClr val="C084FC"/>
                </a:solidFill>
                <a:latin typeface="Inter"/>
              </a:defRPr>
            </a:pPr>
            <a:r>
              <a:t>• Concurrency Locks</a:t>
            </a:r>
          </a:p>
          <a:p>
            <a:pPr>
              <a:spcAft>
                <a:spcPts val="14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Protects stats updates, log entries, and filesystem transactions using mutex locks (`stats_lock`, `file_op_lock`) to prevent race condition write errors.</a:t>
            </a:r>
          </a:p>
          <a:p>
            <a:pPr>
              <a:spcAft>
                <a:spcPts val="400"/>
              </a:spcAft>
              <a:defRPr sz="1600" b="1">
                <a:solidFill>
                  <a:srgbClr val="C084FC"/>
                </a:solidFill>
                <a:latin typeface="Inter"/>
              </a:defRPr>
            </a:pPr>
            <a:r>
              <a:t>• CUDA Hardware Acceleration</a:t>
            </a:r>
          </a:p>
          <a:p>
            <a:pPr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Automatically checks for PyTorch GPU/CUDA drivers. Runs embedding calculations locally on hardware when available, falling back safely to CPU.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645920"/>
            <a:ext cx="4919472" cy="4114800"/>
          </a:xfrm>
          <a:prstGeom prst="roundRect">
            <a:avLst/>
          </a:prstGeom>
          <a:solidFill>
            <a:srgbClr val="161D30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20840" y="1828800"/>
            <a:ext cx="464515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  <a:latin typeface="Consolas"/>
              </a:defRPr>
            </a:pPr>
            <a:r>
              <a:t>THREAD SAFE OPERATIONS (main.py)</a:t>
            </a:r>
          </a:p>
          <a:p>
            <a:pPr>
              <a:spcAft>
                <a:spcPts val="1600"/>
              </a:spcAft>
              <a:defRPr sz="1150" b="0">
                <a:solidFill>
                  <a:srgbClr val="F1F5F9"/>
                </a:solidFill>
                <a:latin typeface="Consolas"/>
              </a:defRPr>
            </a:pPr>
            <a:r>
              <a:t>def process_file(self, file_path):</a:t>
            </a:r>
            <a:br/>
            <a:r>
              <a:t>    # ... extract text</a:t>
            </a:r>
            <a:br/>
            <a:r>
              <a:t>    # ... pre-filter candidates</a:t>
            </a:r>
            <a:br/>
            <a:r>
              <a:t>    # ... classify</a:t>
            </a:r>
            <a:br/>
            <a:r>
              <a:t>    with self.file_op_lock:</a:t>
            </a:r>
            <a:br/>
            <a:r>
              <a:t>        # Verify duplicate SHA-256 hash</a:t>
            </a:r>
            <a:br/>
            <a:r>
              <a:t>        # Move file atomically</a:t>
            </a:r>
            <a:br/>
            <a:r>
              <a:t>        # Log SUCCESS to execution.log</a:t>
            </a:r>
          </a:p>
          <a:p>
            <a:pPr>
              <a:spcAft>
                <a:spcPts val="1000"/>
              </a:spcAft>
              <a:defRPr sz="1200" b="1">
                <a:solidFill>
                  <a:srgbClr val="C084FC"/>
                </a:solidFill>
                <a:latin typeface="Consolas"/>
              </a:defRPr>
            </a:pPr>
            <a:r>
              <a:t>CUDA DEVICE DETECT (vector_store.py)</a:t>
            </a:r>
          </a:p>
          <a:p>
            <a:pPr>
              <a:spcAft>
                <a:spcPts val="0"/>
              </a:spcAft>
              <a:defRPr sz="1150" b="0">
                <a:solidFill>
                  <a:srgbClr val="F1F5F9"/>
                </a:solidFill>
                <a:latin typeface="Consolas"/>
              </a:defRPr>
            </a:pPr>
            <a:r>
              <a:t>device = 'cuda' if torch.cuda.is_available() \</a:t>
            </a:r>
            <a:br/>
            <a:r>
              <a:t>         else 'cpu'</a:t>
            </a:r>
            <a:br/>
            <a:r>
              <a:t>self.embeddings = HuggingFaceEmbeddings(</a:t>
            </a:r>
            <a:br/>
            <a:r>
              <a:t>    model_name=EMBEDDING_MODEL,</a:t>
            </a:r>
            <a:br/>
            <a:r>
              <a:t>    model_kwargs={'device': device}</a:t>
            </a:r>
            <a:br/>
            <a:r>
              <a:t>)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Inter"/>
              </a:defRPr>
            </a:pPr>
            <a:r>
              <a:t>Windows Startup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0">
                <a:solidFill>
                  <a:srgbClr val="F1F5F9"/>
                </a:solidFill>
                <a:latin typeface="Inter"/>
              </a:defRPr>
            </a:pPr>
            <a:r>
              <a:t>Automated PowerShell installers manage continuous service runs:</a:t>
            </a:r>
          </a:p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Inter"/>
              </a:defRPr>
            </a:pPr>
            <a:r>
              <a:t>• register_startup.ps1</a:t>
            </a:r>
          </a:p>
          <a:p>
            <a:pPr>
              <a:spcAft>
                <a:spcPts val="14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Creates a logon shortcut in the Windows Startup directory that runs powershell.exe with a hidden window, executing main.py silently in the background.</a:t>
            </a:r>
          </a:p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Inter"/>
              </a:defRPr>
            </a:pPr>
            <a:r>
              <a:t>• unregister_startup.ps1</a:t>
            </a:r>
          </a:p>
          <a:p>
            <a:pPr>
              <a:spcAft>
                <a:spcPts val="14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Instantly searches for running background python.exe processes executing main.py, terminates them, and deletes the Startup folder shortcut.</a:t>
            </a:r>
          </a:p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Inter"/>
              </a:defRPr>
            </a:pPr>
            <a:r>
              <a:t>• Dynamic Logs Folder</a:t>
            </a:r>
          </a:p>
          <a:p>
            <a:pPr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Creates logs and execution logs in C:\Users\...\Documents\LAFO logs, ensuring zero-pollution in project structures.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645920"/>
            <a:ext cx="4919472" cy="4114800"/>
          </a:xfrm>
          <a:prstGeom prst="roundRect">
            <a:avLst/>
          </a:prstGeom>
          <a:solidFill>
            <a:srgbClr val="161D30"/>
          </a:solidFill>
          <a:ln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20840" y="2011680"/>
            <a:ext cx="46451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22C55E"/>
                </a:solidFill>
                <a:latin typeface="Consolas"/>
              </a:defRPr>
            </a:pPr>
            <a:r>
              <a:t>POWERSHELL SERVICE DEPLOYMENT</a:t>
            </a:r>
          </a:p>
          <a:p>
            <a:pPr>
              <a:spcAft>
                <a:spcPts val="0"/>
              </a:spcAft>
              <a:defRPr sz="1200" b="0">
                <a:solidFill>
                  <a:srgbClr val="F1F5F9"/>
                </a:solidFill>
                <a:latin typeface="Consolas"/>
              </a:defRPr>
            </a:pPr>
            <a:r>
              <a:t># 1. Set Execution Policy</a:t>
            </a:r>
            <a:br/>
            <a:r>
              <a:t>Set-ExecutionPolicy Bypass -Scope Process</a:t>
            </a:r>
            <a:br/>
            <a:br/>
            <a:r>
              <a:t># 2. Run background registration</a:t>
            </a:r>
            <a:br/>
            <a:r>
              <a:t>.\register_startup.ps1</a:t>
            </a:r>
            <a:br/>
            <a:br/>
            <a:r>
              <a:t># 3. Check background status</a:t>
            </a:r>
            <a:br/>
            <a:r>
              <a:t>Get-CimInstance Win32_Process -Filter \</a:t>
            </a:r>
            <a:br/>
            <a:r>
              <a:t>'Name="python.exe" and CommandLine like "%main.py%"'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1645920"/>
            <a:ext cx="9445752" cy="3474720"/>
          </a:xfrm>
          <a:prstGeom prst="rect">
            <a:avLst/>
          </a:prstGeom>
          <a:solidFill>
            <a:srgbClr val="161D30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920240"/>
            <a:ext cx="8531352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2C55E"/>
                </a:solidFill>
                <a:latin typeface="Inter"/>
              </a:defRPr>
            </a:pPr>
            <a:r>
              <a:rPr dirty="0"/>
              <a:t>VERSION 1.3 RELE</a:t>
            </a:r>
            <a:r>
              <a:rPr lang="en-IN" dirty="0"/>
              <a:t>A</a:t>
            </a:r>
            <a:r>
              <a:rPr dirty="0"/>
              <a:t>SE-READY</a:t>
            </a:r>
          </a:p>
          <a:p>
            <a:pPr>
              <a:spcAft>
                <a:spcPts val="1600"/>
              </a:spcAft>
              <a:defRPr sz="4200" b="1">
                <a:solidFill>
                  <a:srgbClr val="38BDF8"/>
                </a:solidFill>
                <a:latin typeface="Inter"/>
              </a:defRPr>
            </a:pPr>
            <a:r>
              <a:rPr dirty="0"/>
              <a:t>LAFO Project Metrics</a:t>
            </a:r>
          </a:p>
          <a:p>
            <a:pPr>
              <a:spcAft>
                <a:spcPts val="2000"/>
              </a:spcAft>
              <a:defRPr sz="1400" b="1">
                <a:solidFill>
                  <a:srgbClr val="F1F5F9"/>
                </a:solidFill>
                <a:latin typeface="Consolas"/>
              </a:defRPr>
            </a:pPr>
            <a:r>
              <a:rPr dirty="0"/>
              <a:t>• 2,575 Lines of Core Code    |    • 2,200+ Lines of Technical Docs</a:t>
            </a:r>
            <a:br>
              <a:rPr dirty="0"/>
            </a:br>
            <a:r>
              <a:rPr dirty="0"/>
              <a:t>• 40+ Features Completed      |    • &lt;15s Processing Speed / File</a:t>
            </a:r>
            <a:br>
              <a:rPr dirty="0"/>
            </a:br>
            <a:r>
              <a:rPr dirty="0"/>
              <a:t>• 100% Local Privacy          |    • Windows Service Enabled</a:t>
            </a:r>
          </a:p>
          <a:p>
            <a:pPr>
              <a:spcAft>
                <a:spcPts val="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rPr dirty="0"/>
              <a:t>Fully production-ready for automated, secure, and offline file organization.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1034</Words>
  <Application>Microsoft Office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Vamshidhar Reddy Bussu</cp:lastModifiedBy>
  <cp:revision>3</cp:revision>
  <dcterms:created xsi:type="dcterms:W3CDTF">2013-01-27T09:14:16Z</dcterms:created>
  <dcterms:modified xsi:type="dcterms:W3CDTF">2026-06-17T10:09:46Z</dcterms:modified>
  <cp:category/>
</cp:coreProperties>
</file>